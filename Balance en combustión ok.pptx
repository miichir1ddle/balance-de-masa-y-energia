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68" r:id="rId4"/>
    <p:sldId id="273" r:id="rId5"/>
    <p:sldId id="281" r:id="rId6"/>
    <p:sldId id="280" r:id="rId7"/>
    <p:sldId id="272" r:id="rId8"/>
    <p:sldId id="275" r:id="rId9"/>
    <p:sldId id="276" r:id="rId10"/>
    <p:sldId id="277" r:id="rId11"/>
    <p:sldId id="278" r:id="rId12"/>
    <p:sldId id="279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478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688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950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63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022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926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16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9430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079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59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200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B6840-4BDA-4640-AD0A-D56A9DF2FAF7}" type="datetimeFigureOut">
              <a:rPr lang="es-ES" smtClean="0"/>
              <a:t>23/10/2023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194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748146"/>
            <a:ext cx="9144000" cy="457185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E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Balance en combustión de compuestos </a:t>
            </a:r>
            <a:r>
              <a:rPr lang="es-ES" sz="4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hidrogenocarnonados</a:t>
            </a:r>
            <a:r>
              <a:rPr lang="es-E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br>
              <a:rPr lang="es-ES" sz="4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Cálculos y fórmulas</a:t>
            </a:r>
            <a:endParaRPr lang="es-E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13164" y="5320002"/>
            <a:ext cx="9144000" cy="1655762"/>
          </a:xfrm>
        </p:spPr>
        <p:txBody>
          <a:bodyPr/>
          <a:lstStyle/>
          <a:p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Profesor: Mendel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09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Ecuación general de combustión de un hidrocarburo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838200" y="2078615"/>
                <a:ext cx="10515600" cy="1129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𝑪𝒙𝑯𝒚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𝒙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𝒙𝑪𝑶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𝑯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78615"/>
                <a:ext cx="10515600" cy="1129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1198418" y="3534098"/>
                <a:ext cx="96012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Aunque esta es la ecuación general de la reacción para simplificar los cálculos se utilizarán la letra griega </a:t>
                </a:r>
                <a14:m>
                  <m:oMath xmlns:m="http://schemas.openxmlformats.org/officeDocument/2006/math">
                    <m:r>
                      <a:rPr lang="el-GR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𝝂</m:t>
                    </m:r>
                    <m:r>
                      <a:rPr lang="el-GR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𝐜𝐨𝐦𝐨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𝐬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í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𝐦𝐛𝐨𝐥𝐨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𝐝𝐞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𝐜𝐨𝐞𝐟𝐢𝐜𝐢𝐞𝐧𝐭𝐞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𝐞𝐬𝐭𝐞𝐪𝐮𝐢𝐨𝐦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é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𝐭𝐫𝐢𝐜𝐨</m:t>
                    </m:r>
                    <m:r>
                      <a:rPr lang="es-E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Esta ecuación está referida a la combustión completa.</a:t>
                </a:r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418" y="3534098"/>
                <a:ext cx="9601200" cy="2308324"/>
              </a:xfrm>
              <a:prstGeom prst="rect">
                <a:avLst/>
              </a:prstGeom>
              <a:blipFill>
                <a:blip r:embed="rId3"/>
                <a:stretch>
                  <a:fillRect l="-1016" r="-952" b="-264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00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% de conversión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838200" y="2078615"/>
                <a:ext cx="10515600" cy="2937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%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𝐝𝐞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𝐜𝐨𝐧𝐯𝐞𝐫𝐬𝐢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𝐧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𝒍𝒊𝒎𝒊𝒕𝒂𝒏𝒕𝒆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𝒓𝒆𝒂𝒄𝒄𝒊𝒐𝒏𝒂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𝒍𝒊𝒎𝒊𝒕𝒂𝒏𝒕𝒆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𝒆𝒏𝒕𝒓𝒂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𝟏𝟎𝟎</m:t>
                      </m:r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% </m:t>
                      </m:r>
                      <m:r>
                        <a:rPr lang="es-ES" sz="2400" b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𝐝𝐞</m:t>
                      </m:r>
                      <m:r>
                        <a:rPr lang="es-ES" sz="2400" b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𝐜𝐨𝐧𝐯𝐞𝐫𝐬𝐢</m:t>
                      </m:r>
                      <m:r>
                        <a:rPr lang="es-ES" sz="2400" b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𝐧</m:t>
                      </m:r>
                      <m:r>
                        <a:rPr lang="es-ES" sz="2400" b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𝒍𝒊𝒎𝒊𝒕𝒂𝒏𝒕𝒆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𝒆𝒏𝒕𝒓𝒂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𝒍𝒊𝒎𝒊𝒕𝒂𝒏𝒕𝒆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𝒔𝒂𝒍𝒆</m:t>
                          </m:r>
                        </m:num>
                        <m:den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𝒍𝒊𝒎𝒊𝒕𝒂𝒏𝒕𝒆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𝒆𝒏𝒕𝒓𝒂</m:t>
                          </m:r>
                        </m:den>
                      </m:f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𝟏𝟎𝟎</m:t>
                      </m:r>
                    </m:oMath>
                  </m:oMathPara>
                </a14:m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78615"/>
                <a:ext cx="10515600" cy="29379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/>
          <p:cNvSpPr txBox="1"/>
          <p:nvPr/>
        </p:nvSpPr>
        <p:spPr>
          <a:xfrm>
            <a:off x="1295400" y="4656316"/>
            <a:ext cx="960120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Generalmente el limitante de las reacciones de combustión es el combustible que en este caso es un compuesto </a:t>
            </a:r>
            <a:r>
              <a:rPr lang="es-E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hidrogenocarbonado</a:t>
            </a:r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o hidrocarburo.</a:t>
            </a: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97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% de aire en exceso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838200" y="2078615"/>
                <a:ext cx="10515600" cy="1794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%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𝐝𝐞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𝐚𝐢𝐫𝐞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𝐞𝐧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𝐞𝐱𝐜𝐞𝐬𝐨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𝑶</m:t>
                          </m:r>
                          <m:r>
                            <a:rPr lang="es-ES" sz="2400" b="1" i="1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𝒆𝒏𝒕𝒓𝒂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𝒏𝑶</m:t>
                          </m:r>
                          <m:r>
                            <a:rPr lang="es-ES" sz="2400" b="1" i="1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𝒆𝒔𝒕𝒆𝒒𝒖𝒊𝒐𝒎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é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𝒕𝒓𝒊𝒄𝒐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𝒏𝑶</m:t>
                          </m:r>
                          <m:r>
                            <a:rPr lang="es-ES" sz="2400" b="1" i="1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𝒆𝒔𝒕𝒆𝒒𝒖𝒊𝒐𝒎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é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𝒕𝒓𝒊𝒄𝒐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𝟏𝟎𝟎</m:t>
                      </m:r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78615"/>
                <a:ext cx="10515600" cy="1794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/>
          <p:cNvSpPr txBox="1"/>
          <p:nvPr/>
        </p:nvSpPr>
        <p:spPr>
          <a:xfrm>
            <a:off x="1163782" y="3491345"/>
            <a:ext cx="1019001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El aire en exceso se encuentra referido como dioxígeno ya que son proporcionales directamente. Esto solo es válido para el dioxígeno que entra por el aire y no por otra corriente. El </a:t>
            </a:r>
            <a:r>
              <a:rPr lang="es-E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estequiométrico</a:t>
            </a:r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se refiere al necesario para la reacción completa.</a:t>
            </a: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10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768475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% de aire en exceso, si hay varias corrientes de entrada de O</a:t>
            </a:r>
            <a:r>
              <a:rPr lang="es-ES" b="1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838200" y="2743634"/>
                <a:ext cx="10910455" cy="2254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%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𝐝𝐞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𝐚𝐢𝐫𝐞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𝐞𝐧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𝐞𝐱𝐜𝐞𝐬𝐨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𝑶</m:t>
                          </m:r>
                          <m:r>
                            <a:rPr lang="es-ES" sz="2400" b="1" i="1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𝒆𝒏𝒕𝒓𝒂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𝒏𝑶</m:t>
                          </m:r>
                          <m:r>
                            <a:rPr lang="es-ES" sz="2400" b="1" i="1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ó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𝒓𝒊𝒄𝒐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𝒏𝑶</m:t>
                          </m:r>
                          <m:r>
                            <a:rPr lang="es-ES" sz="2400" b="1" i="1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𝒕𝒆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ó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𝒓𝒊𝒄𝒐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𝟏𝟎𝟎</m:t>
                      </m:r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4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𝒏𝑶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𝒕𝒆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𝒓𝒊𝒄𝒐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𝒏𝑶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𝒆𝒔𝒕𝒆𝒒𝒖𝒊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𝒎𝒆𝒕𝒓𝒊𝒄𝒐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𝒏𝑶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𝒂𝒍𝒊𝒎𝒆𝒏𝒕𝒂𝒅𝒐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𝒑𝒐𝒓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𝒐𝒕𝒓𝒂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𝒄𝒐𝒓𝒓𝒊𝒆𝒏𝒕𝒆</m:t>
                      </m:r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43634"/>
                <a:ext cx="10910455" cy="22549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95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% de aire en exceso. Despejes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/>
              <p:cNvSpPr txBox="1"/>
              <p:nvPr/>
            </p:nvSpPr>
            <p:spPr>
              <a:xfrm>
                <a:off x="838200" y="2078615"/>
                <a:ext cx="10515600" cy="2836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𝒆𝒔𝒕𝒆𝒒𝒖𝒊𝒐𝒎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é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𝒕𝒓𝒊𝒄𝒐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𝑶</m:t>
                          </m:r>
                          <m:r>
                            <a:rPr lang="es-ES" sz="2400" b="1" i="1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𝒆𝒏𝒕𝒓𝒂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ES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% </m:t>
                              </m:r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𝒅𝒆</m:t>
                              </m:r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𝒂𝒊𝒓𝒆</m:t>
                              </m:r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𝒆𝒏</m:t>
                              </m:r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𝒆𝒙𝒄𝒆𝒔𝒐</m:t>
                              </m:r>
                            </m:num>
                            <m:den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𝟏𝟎𝟎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𝒏𝑶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𝒆𝒏𝒕𝒓𝒂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𝒆𝒔𝒕𝒆𝒒𝒖𝒊𝒐𝒎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é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𝒕𝒓𝒊𝒄𝒐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d>
                        <m:d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% </m:t>
                              </m:r>
                              <m:r>
                                <a:rPr lang="es-ES" sz="24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𝒅𝒆</m:t>
                              </m:r>
                              <m:r>
                                <a:rPr lang="es-ES" sz="24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s-ES" sz="24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𝒂𝒊𝒓𝒆</m:t>
                              </m:r>
                              <m:r>
                                <a:rPr lang="es-ES" sz="24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s-ES" sz="24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𝒆𝒏</m:t>
                              </m:r>
                              <m:r>
                                <a:rPr lang="es-ES" sz="24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s-ES" sz="24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𝒆𝒙𝒄𝒆𝒔𝒐</m:t>
                              </m:r>
                            </m:num>
                            <m:den>
                              <m:r>
                                <a:rPr lang="es-ES" sz="24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𝟏𝟎𝟎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s-ES" sz="2400" b="1" dirty="0">
                              <a:latin typeface="Arial" panose="020B0604020202020204" pitchFamily="34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78615"/>
                <a:ext cx="10515600" cy="28362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3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% de completamiento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838200" y="2078615"/>
                <a:ext cx="10515600" cy="1796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%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𝐝𝐞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𝐜𝐨𝐦𝐩𝐥𝐞𝐭𝐚𝐦𝐢𝐞𝐧𝐭𝐨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𝑪𝑶</m:t>
                          </m:r>
                          <m:r>
                            <a:rPr lang="es-ES" sz="2400" b="1" i="1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𝒔𝒆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𝒇𝒐𝒓𝒎𝒂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𝑪𝑶</m:t>
                          </m:r>
                          <m:r>
                            <a:rPr lang="es-ES" sz="2400" b="1" i="1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𝒔𝒆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𝒇𝒐𝒓𝒎𝒂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𝒏𝑪𝑶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𝒔𝒆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𝒇𝒐𝒓𝒎𝒂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𝟏𝟎𝟎</m:t>
                      </m:r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78615"/>
                <a:ext cx="10515600" cy="17966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/>
              <p:cNvSpPr txBox="1"/>
              <p:nvPr/>
            </p:nvSpPr>
            <p:spPr>
              <a:xfrm>
                <a:off x="1163782" y="3875261"/>
                <a:ext cx="10086109" cy="1685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Nota: Aunque se presenten las ecuaciones hipotéticas con coeficientes de igual carácter, se utilizará para generalizar la letra griega </a:t>
                </a:r>
                <a14:m>
                  <m:oMath xmlns:m="http://schemas.openxmlformats.org/officeDocument/2006/math">
                    <m:r>
                      <a:rPr lang="el-GR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𝝂</m:t>
                    </m:r>
                    <m:r>
                      <a:rPr lang="el-GR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como símbolo de coeficiente </a:t>
                </a:r>
                <a:r>
                  <a:rPr lang="es-ES" sz="2400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estequiométrico</a:t>
                </a: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782" y="3875261"/>
                <a:ext cx="10086109" cy="1685846"/>
              </a:xfrm>
              <a:prstGeom prst="rect">
                <a:avLst/>
              </a:prstGeom>
              <a:blipFill>
                <a:blip r:embed="rId3"/>
                <a:stretch>
                  <a:fillRect l="-967" r="-907" b="-797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08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Cálculo del dióxido de carbono que se forma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838200" y="2078615"/>
                <a:ext cx="10515600" cy="1685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𝒂𝑪𝒙𝑯𝒚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𝒄𝑪𝑶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𝒅𝑯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𝒄𝒐𝒎𝒃𝒖𝒔𝒕𝒊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𝒄𝒐𝒎𝒑𝒍𝒆𝒕𝒂</m:t>
                      </m:r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𝒂𝑪𝒙𝑯𝒚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𝒄𝑪𝑶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𝒅𝑯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𝒄𝒐𝒎𝒃𝒖𝒔𝒕𝒊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𝒊𝒏𝒄𝒐𝒎𝒑𝒍𝒆𝒕𝒂</m:t>
                      </m:r>
                    </m:oMath>
                  </m:oMathPara>
                </a14:m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78615"/>
                <a:ext cx="10515600" cy="16858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1295400" y="3159367"/>
                <a:ext cx="9601200" cy="3861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𝒏𝑪𝑶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𝒇𝒐𝒓𝒎𝒂𝒅𝒐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𝒏𝒍𝒊𝒎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%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𝒄𝒐𝒏𝒗𝒆𝒓𝒔𝒊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ó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%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𝒄𝒐𝒎𝒑𝒍𝒆𝒕𝒂𝒎𝒊𝒆𝒏𝒕𝒐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l-GR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𝑪𝑶</m:t>
                          </m:r>
                          <m:r>
                            <a:rPr lang="es-ES" sz="2400" b="1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num>
                        <m:den>
                          <m:r>
                            <a:rPr lang="el-GR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</m:t>
                          </m:r>
                        </m:den>
                      </m:f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𝒏𝑪𝑶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𝒇𝒐𝒓𝒎𝒂𝒅𝒐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𝒏𝒍𝒊𝒎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𝒓𝒆𝒂𝒄𝒄𝒊𝒐𝒏𝒂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%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𝒄𝒐𝒎𝒑𝒍𝒆𝒕𝒂𝒎𝒊𝒆𝒏𝒕𝒐</m:t>
                          </m:r>
                        </m:num>
                        <m:den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</m:den>
                      </m:f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l-GR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𝑪𝑶</m:t>
                          </m:r>
                          <m:r>
                            <a:rPr lang="es-ES" sz="2400" b="1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num>
                        <m:den>
                          <m:r>
                            <a:rPr lang="el-GR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</m:t>
                          </m:r>
                        </m:den>
                      </m:f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l-GR" sz="2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𝝂</m:t>
                    </m:r>
                  </m:oMath>
                </a14:m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es el coeficiente </a:t>
                </a:r>
                <a:r>
                  <a:rPr lang="es-ES" sz="2400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estequiométrico</a:t>
                </a: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en este caso es c para el CO</a:t>
                </a:r>
                <a:r>
                  <a:rPr lang="es-ES" sz="2400" b="1" baseline="-25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s-E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y a para el limitante (combustible).</a:t>
                </a:r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159367"/>
                <a:ext cx="9601200" cy="3861313"/>
              </a:xfrm>
              <a:prstGeom prst="rect">
                <a:avLst/>
              </a:prstGeom>
              <a:blipFill>
                <a:blip r:embed="rId3"/>
                <a:stretch>
                  <a:fillRect l="-1016" r="-9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05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Cálculo del monóxido de carbono que se forma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838200" y="2078615"/>
                <a:ext cx="10515600" cy="1685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𝒂𝑪𝒙𝑯𝒚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𝒄𝑪𝑶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𝒅𝑯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𝒄𝒐𝒎𝒃𝒖𝒔𝒕𝒊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𝒄𝒐𝒎𝒑𝒍𝒆𝒕𝒂</m:t>
                      </m:r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𝒂𝑪𝒙𝑯𝒚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𝒄𝑪𝑶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𝒅𝑯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𝒄𝒐𝒎𝒃𝒖𝒔𝒕𝒊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𝒊𝒏𝒄𝒐𝒎𝒑𝒍𝒆𝒕𝒂</m:t>
                      </m:r>
                    </m:oMath>
                  </m:oMathPara>
                </a14:m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78615"/>
                <a:ext cx="10515600" cy="16858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1295400" y="3159367"/>
                <a:ext cx="9601200" cy="2928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𝒏𝑪𝑶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𝒇𝒐𝒓𝒎𝒂𝒅𝒐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𝒏𝒍𝒊𝒎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%</m:t>
                          </m:r>
                          <m: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𝒄𝒐𝒏𝒗𝒆𝒓𝒔𝒊</m:t>
                          </m:r>
                          <m: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ó</m:t>
                          </m:r>
                          <m: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</m:den>
                      </m:f>
                      <m:r>
                        <a:rPr lang="es-E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d>
                        <m:dPr>
                          <m:ctrlP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%</m:t>
                              </m:r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𝒄𝒐𝒎𝒑𝒍𝒆𝒕𝒂𝒎𝒊𝒆𝒏𝒕𝒐</m:t>
                              </m:r>
                            </m:num>
                            <m:den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𝟏𝟎𝟎</m:t>
                              </m:r>
                            </m:den>
                          </m:f>
                        </m:e>
                      </m:d>
                      <m:r>
                        <a:rPr lang="es-ES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l-GR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𝑪𝑶</m:t>
                          </m:r>
                        </m:num>
                        <m:den>
                          <m:r>
                            <a:rPr lang="el-GR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</m:t>
                          </m:r>
                        </m:den>
                      </m:f>
                    </m:oMath>
                  </m:oMathPara>
                </a14:m>
                <a:endParaRPr lang="es-ES" sz="22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𝒏𝑪𝑶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𝒇𝒐𝒓𝒎𝒂𝒅𝒐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𝒏𝒍𝒊𝒎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𝒓𝒆𝒂𝒄𝒄𝒊𝒐𝒏𝒂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d>
                        <m:dPr>
                          <m:ctrlP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%</m:t>
                              </m:r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𝒄𝒐𝒎𝒑𝒍𝒆𝒕𝒂𝒎𝒊𝒆𝒏𝒕𝒐</m:t>
                              </m:r>
                            </m:num>
                            <m:den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𝟏𝟎𝟎</m:t>
                              </m:r>
                            </m:den>
                          </m:f>
                        </m:e>
                      </m:d>
                      <m:r>
                        <a:rPr lang="es-E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l-GR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𝑪𝑶</m:t>
                          </m:r>
                        </m:num>
                        <m:den>
                          <m:r>
                            <a:rPr lang="el-GR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</m:t>
                          </m:r>
                        </m:den>
                      </m:f>
                    </m:oMath>
                  </m:oMathPara>
                </a14:m>
                <a:endParaRPr lang="es-ES" sz="22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159367"/>
                <a:ext cx="9601200" cy="29284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628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Cálculo del agua que se forma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838200" y="2078615"/>
                <a:ext cx="10515600" cy="1685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𝒂𝑪𝒙𝑯𝒚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𝒄𝑪𝑶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𝒅𝑯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𝒄𝒐𝒎𝒃𝒖𝒔𝒕𝒊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𝒄𝒐𝒎𝒑𝒍𝒆𝒕𝒂</m:t>
                      </m:r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𝒂𝑪𝒙𝑯𝒚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𝒄𝑪𝑶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𝒅𝑯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𝒄𝒐𝒎𝒃𝒖𝒔𝒕𝒊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𝒊𝒏𝒄𝒐𝒎𝒑𝒍𝒆𝒕𝒂</m:t>
                      </m:r>
                    </m:oMath>
                  </m:oMathPara>
                </a14:m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78615"/>
                <a:ext cx="10515600" cy="16858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1295400" y="3159367"/>
                <a:ext cx="9601200" cy="2187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𝒏𝑯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𝒇𝒐𝒓𝒎𝒂𝒅𝒂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𝒏𝒍𝒊𝒎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%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𝒄𝒐𝒏𝒗𝒆𝒓𝒔𝒊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ó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</m:den>
                      </m:f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l-GR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  <m:r>
                            <a:rPr lang="es-ES" sz="2400" b="1" i="1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𝑶</m:t>
                          </m:r>
                        </m:num>
                        <m:den>
                          <m:r>
                            <a:rPr lang="el-GR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</m:t>
                          </m:r>
                        </m:den>
                      </m:f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𝒏𝑯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𝒇𝒐𝒓𝒎𝒂𝒅𝒂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𝒏𝒍𝒊𝒎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𝒓𝒆𝒂𝒄𝒄𝒊𝒐𝒏𝒂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l-GR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𝑯</m:t>
                          </m:r>
                          <m:r>
                            <a:rPr lang="es-ES" sz="2400" b="1" i="1" baseline="-25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𝑶</m:t>
                          </m:r>
                        </m:num>
                        <m:den>
                          <m:r>
                            <a:rPr lang="el-GR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</m:t>
                          </m:r>
                        </m:den>
                      </m:f>
                    </m:oMath>
                  </m:oMathPara>
                </a14:m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159367"/>
                <a:ext cx="9601200" cy="2187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842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Cálculo del dioxígeno que reacciona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/>
              <p:cNvSpPr txBox="1"/>
              <p:nvPr/>
            </p:nvSpPr>
            <p:spPr>
              <a:xfrm>
                <a:off x="838200" y="2078615"/>
                <a:ext cx="10515600" cy="1685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𝒂𝑪𝒙𝑯𝒚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𝒃𝑶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𝒄𝑪𝑶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𝒅𝑯</m:t>
                      </m:r>
                      <m:r>
                        <a:rPr lang="es-ES" sz="24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𝒄𝒐𝒎𝒃𝒖𝒔𝒕𝒊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𝒄𝒐𝒎𝒑𝒍𝒆𝒕𝒂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𝑪𝑪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𝒂𝑪𝒙𝑯𝒚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𝒄𝑪𝑶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𝒅𝑯</m:t>
                      </m:r>
                      <m:r>
                        <a:rPr lang="es-ES" sz="24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𝒄𝒐𝒎𝒃𝒖𝒔𝒕𝒊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ó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𝒊𝒏𝒄𝒐𝒎𝒑𝒍𝒆𝒕𝒂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𝑪𝑰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s-E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4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uadro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78615"/>
                <a:ext cx="10515600" cy="16858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/>
              <p:cNvSpPr txBox="1"/>
              <p:nvPr/>
            </p:nvSpPr>
            <p:spPr>
              <a:xfrm>
                <a:off x="720437" y="3404178"/>
                <a:ext cx="10986654" cy="3390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𝒏𝑶</m:t>
                      </m:r>
                      <m:r>
                        <a:rPr lang="es-ES" sz="22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𝒓𝒆𝒂𝒄𝒄𝒊𝒐𝒏𝒂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2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𝒓𝒆𝒂𝒄𝒄𝒊𝒐𝒏𝒂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𝑪𝑪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2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𝒓𝒆𝒂𝒄𝒄𝒊𝒐𝒏𝒂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𝑪𝑰</m:t>
                      </m:r>
                    </m:oMath>
                  </m:oMathPara>
                </a14:m>
                <a:endParaRPr lang="es-ES" sz="2200" b="1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𝑶</m:t>
                      </m:r>
                      <m:r>
                        <a:rPr lang="es-ES" sz="22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𝒓𝒆𝒂𝒄𝒄𝒊𝒐𝒏𝒂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𝑪𝑰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𝒏𝒍𝒊𝒎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%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𝒄𝒐𝒏𝒗𝒆𝒓𝒔𝒊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ó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</m:den>
                      </m:f>
                      <m:r>
                        <a:rPr lang="es-E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d>
                        <m:dPr>
                          <m:ctrlP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%</m:t>
                              </m:r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𝒄𝒐𝒎𝒑𝒍𝒆𝒕𝒂𝒎𝒊𝒆𝒏𝒕𝒐</m:t>
                              </m:r>
                            </m:num>
                            <m:den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𝟏𝟎𝟎</m:t>
                              </m:r>
                            </m:den>
                          </m:f>
                        </m:e>
                      </m:d>
                      <m:r>
                        <a:rPr lang="es-E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l-GR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2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𝑶</m:t>
                          </m:r>
                          <m:r>
                            <a:rPr lang="es-ES" sz="2200" b="1" i="1" baseline="-2500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num>
                        <m:den>
                          <m:r>
                            <a:rPr lang="el-GR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</m:t>
                          </m:r>
                        </m:den>
                      </m:f>
                    </m:oMath>
                  </m:oMathPara>
                </a14:m>
                <a:endParaRPr lang="es-ES" sz="2200" b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𝒏𝑶</m:t>
                      </m:r>
                      <m:r>
                        <a:rPr lang="es-ES" sz="22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𝒓𝒆𝒂𝒄𝒄𝒊𝒐𝒏𝒂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𝑪𝑪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𝒏𝒍𝒊𝒎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%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𝒄𝒐𝒏𝒗𝒆𝒓𝒔𝒊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ó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num>
                        <m:den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𝟏𝟎𝟎</m:t>
                          </m:r>
                        </m:den>
                      </m:f>
                      <m:r>
                        <a:rPr lang="es-E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d>
                        <m:dPr>
                          <m:ctrlP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%</m:t>
                              </m:r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𝒄𝒐𝒎𝒑𝒍𝒆𝒕𝒂𝒎𝒊𝒆𝒏𝒕𝒐</m:t>
                              </m:r>
                            </m:num>
                            <m:den>
                              <m:r>
                                <a:rPr lang="es-ES" sz="2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𝟏𝟎𝟎</m:t>
                              </m:r>
                            </m:den>
                          </m:f>
                        </m:e>
                      </m:d>
                      <m:r>
                        <a:rPr lang="es-E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l-GR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𝑶</m:t>
                          </m:r>
                          <m:r>
                            <a:rPr lang="es-ES" sz="2200" b="1" i="1" baseline="-25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num>
                        <m:den>
                          <m:r>
                            <a:rPr lang="el-GR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</m:t>
                          </m:r>
                        </m:den>
                      </m:f>
                    </m:oMath>
                  </m:oMathPara>
                </a14:m>
                <a:endParaRPr lang="es-ES" sz="2200" b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200" b="1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37" y="3404178"/>
                <a:ext cx="10986654" cy="3390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7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753052"/>
            <a:ext cx="10515600" cy="1325563"/>
          </a:xfrm>
        </p:spPr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Cálculo del combustible a partir del dioxígeno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/>
              <p:cNvSpPr txBox="1"/>
              <p:nvPr/>
            </p:nvSpPr>
            <p:spPr>
              <a:xfrm>
                <a:off x="602673" y="2378942"/>
                <a:ext cx="10986654" cy="4799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AutoNum type="arabicPeriod"/>
                </a:pPr>
                <a:r>
                  <a:rPr lang="es-ES" sz="2200" b="1" dirty="0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Calcular el nO</a:t>
                </a:r>
                <a:r>
                  <a:rPr lang="es-ES" sz="2200" b="1" baseline="-25000" dirty="0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2</a:t>
                </a:r>
                <a:r>
                  <a:rPr lang="es-ES" sz="2200" b="1" dirty="0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s-ES" sz="2200" b="1" dirty="0" err="1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estequiométrico</a:t>
                </a:r>
                <a:r>
                  <a:rPr lang="es-ES" sz="2200" b="1" dirty="0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: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𝒏𝑶</m:t>
                      </m:r>
                      <m:r>
                        <a:rPr lang="es-ES" sz="2000" b="1" i="1" baseline="-25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𝒆𝒔𝒕𝒆𝒒𝒖𝒊𝒐𝒎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é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𝒕𝒓𝒊𝒄𝒐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E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𝑶</m:t>
                          </m:r>
                          <m:r>
                            <a:rPr lang="es-ES" sz="2000" b="1" i="1" baseline="-25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𝒒𝒖𝒆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𝒆𝒏𝒕𝒓𝒂</m:t>
                          </m:r>
                        </m:num>
                        <m:den>
                          <m:r>
                            <a:rPr lang="es-ES" sz="20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% </m:t>
                              </m:r>
                              <m:r>
                                <a:rPr lang="es-E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𝒅𝒆</m:t>
                              </m:r>
                              <m:r>
                                <a:rPr lang="es-E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s-E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𝒂𝒊𝒓𝒆</m:t>
                              </m:r>
                              <m:r>
                                <a:rPr lang="es-E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s-E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𝒆𝒏</m:t>
                              </m:r>
                              <m:r>
                                <a:rPr lang="es-E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s-E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𝒆𝒙𝒄𝒆𝒔𝒐</m:t>
                              </m:r>
                            </m:num>
                            <m:den>
                              <m:r>
                                <a:rPr lang="es-ES" sz="2000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𝟏𝟎𝟎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s-ES" sz="2000" b="1" dirty="0" smtClean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s-ES" sz="2200" b="1" dirty="0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2. A partir del O</a:t>
                </a:r>
                <a:r>
                  <a:rPr lang="es-ES" sz="2200" b="1" baseline="-25000" dirty="0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2</a:t>
                </a:r>
                <a:r>
                  <a:rPr lang="es-ES" sz="2200" b="1" dirty="0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s-ES" sz="2200" b="1" dirty="0" err="1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estequiométrico</a:t>
                </a:r>
                <a:r>
                  <a:rPr lang="es-ES" sz="2200" b="1" dirty="0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calcular el </a:t>
                </a:r>
                <a:r>
                  <a:rPr lang="es-ES" sz="2200" b="1" dirty="0" err="1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nlim</a:t>
                </a:r>
                <a:r>
                  <a:rPr lang="es-ES" sz="2200" b="1" dirty="0" smtClean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: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𝒍𝒊𝒎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𝒒𝒖𝒆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𝒆𝒏𝒕𝒓𝒂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𝒏𝑶</m:t>
                      </m:r>
                      <m:r>
                        <a:rPr lang="es-ES" sz="2200" b="1" i="1" baseline="-25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𝒆𝒔𝒕𝒆𝒒𝒖𝒊𝒐𝒎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é</m:t>
                      </m:r>
                      <m:r>
                        <a:rPr lang="es-ES" sz="22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𝒕𝒓𝒊𝒄𝒐</m:t>
                      </m:r>
                      <m:r>
                        <a:rPr lang="es-ES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∙</m:t>
                      </m:r>
                      <m:f>
                        <m:fPr>
                          <m:ctrlPr>
                            <a:rPr lang="es-ES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l-GR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2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𝒍𝒊𝒎</m:t>
                          </m:r>
                        </m:num>
                        <m:den>
                          <m:r>
                            <a:rPr lang="el-GR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𝝂</m:t>
                          </m:r>
                          <m:r>
                            <a:rPr lang="es-ES" sz="22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𝑶</m:t>
                          </m:r>
                          <m:r>
                            <a:rPr lang="es-ES" sz="2200" b="1" i="1" baseline="-25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s-ES" sz="2200" b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200" b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457200" indent="-457200" algn="just">
                  <a:lnSpc>
                    <a:spcPct val="150000"/>
                  </a:lnSpc>
                  <a:buAutoNum type="arabicPeriod"/>
                </a:pPr>
                <a:endParaRPr lang="es-ES" sz="2000" b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s-ES" sz="2200" b="1" i="1" dirty="0" smtClean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uadro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73" y="2378942"/>
                <a:ext cx="10986654" cy="4799327"/>
              </a:xfrm>
              <a:prstGeom prst="rect">
                <a:avLst/>
              </a:prstGeom>
              <a:blipFill>
                <a:blip r:embed="rId2"/>
                <a:stretch>
                  <a:fillRect l="-72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78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435</Words>
  <Application>Microsoft Office PowerPoint</Application>
  <PresentationFormat>Panorámica</PresentationFormat>
  <Paragraphs>50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Tema de Office</vt:lpstr>
      <vt:lpstr>Balance en combustión de compuestos hidrogenocarnonados.  Cálculos y fórmulas</vt:lpstr>
      <vt:lpstr>Ecuación general de combustión de un hidrocarburo</vt:lpstr>
      <vt:lpstr>% de conversión</vt:lpstr>
      <vt:lpstr>% de aire en exceso</vt:lpstr>
      <vt:lpstr>% de aire en exceso, si hay varias corrientes de entrada de O2</vt:lpstr>
      <vt:lpstr>% de aire en exceso. Despejes</vt:lpstr>
      <vt:lpstr>% de completamiento</vt:lpstr>
      <vt:lpstr>Cálculo del dióxido de carbono que se forma</vt:lpstr>
      <vt:lpstr>Cálculo del monóxido de carbono que se forma</vt:lpstr>
      <vt:lpstr>Cálculo del agua que se forma</vt:lpstr>
      <vt:lpstr>Cálculo del dioxígeno que reacciona</vt:lpstr>
      <vt:lpstr>Cálculo del combustible a partir del dioxígeno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Carta sicrométrica y procesos aire-agua</dc:title>
  <dc:creator>claudia cortes</dc:creator>
  <cp:lastModifiedBy>claudia cortes</cp:lastModifiedBy>
  <cp:revision>30</cp:revision>
  <dcterms:created xsi:type="dcterms:W3CDTF">2023-09-06T01:29:09Z</dcterms:created>
  <dcterms:modified xsi:type="dcterms:W3CDTF">2023-10-24T01:07:46Z</dcterms:modified>
</cp:coreProperties>
</file>