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78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88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950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63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022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26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1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43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79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59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200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94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58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Carta </a:t>
            </a:r>
            <a:r>
              <a:rPr lang="es-E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sicrométrica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 Cálculos y fórmulas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13164" y="5320002"/>
            <a:ext cx="9144000" cy="1655762"/>
          </a:xfrm>
        </p:spPr>
        <p:txBody>
          <a:bodyPr/>
          <a:lstStyle/>
          <a:p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Profesor: Mendel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9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Leyenda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406368"/>
              </p:ext>
            </p:extLst>
          </p:nvPr>
        </p:nvGraphicFramePr>
        <p:xfrm>
          <a:off x="665018" y="1690688"/>
          <a:ext cx="10861964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30982">
                  <a:extLst>
                    <a:ext uri="{9D8B030D-6E8A-4147-A177-3AD203B41FA5}">
                      <a16:colId xmlns:a16="http://schemas.microsoft.com/office/drawing/2014/main" val="2313403667"/>
                    </a:ext>
                  </a:extLst>
                </a:gridCol>
                <a:gridCol w="5430982">
                  <a:extLst>
                    <a:ext uri="{9D8B030D-6E8A-4147-A177-3AD203B41FA5}">
                      <a16:colId xmlns:a16="http://schemas.microsoft.com/office/drawing/2014/main" val="1651764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AS: aire seco</a:t>
                      </a:r>
                      <a:endParaRPr lang="es-ES" sz="2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y: fracción másica en base húmeda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178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Ah: aire húmedo</a:t>
                      </a:r>
                      <a:endParaRPr lang="es-ES" sz="2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Y: fracción másica en base seca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40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n: cantidad de sustancia</a:t>
                      </a:r>
                      <a:endParaRPr lang="es-ES" sz="2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x:</a:t>
                      </a:r>
                      <a:r>
                        <a:rPr lang="es-ES" sz="24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fracción molar en base húmeda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323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m: masa</a:t>
                      </a:r>
                      <a:endParaRPr lang="es-ES" sz="2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X: fracción molar</a:t>
                      </a:r>
                      <a:r>
                        <a:rPr lang="es-ES" sz="24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base seca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92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M: masa molar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</a:t>
                      </a: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temperatura</a:t>
                      </a:r>
                      <a:r>
                        <a:rPr lang="es-ES" sz="24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rocío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05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T: temperatura</a:t>
                      </a:r>
                      <a:r>
                        <a:rPr lang="es-ES" sz="24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bulbo seco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Yr</a:t>
                      </a: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humedad relativa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87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Tbh</a:t>
                      </a: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24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temperatura de bulbo húmedo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volumen húmedo</a:t>
                      </a:r>
                      <a:endParaRPr lang="es-E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94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s-ES" sz="2400" b="1" baseline="-25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</a:t>
                      </a:r>
                      <a:r>
                        <a:rPr lang="es-ES" sz="24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temperatura de saturación adiabática </a:t>
                      </a:r>
                      <a:endParaRPr lang="es-ES" sz="24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24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6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8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Conceptos básicos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3" y="2120178"/>
            <a:ext cx="4162425" cy="347662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430982" y="1690688"/>
            <a:ext cx="59228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Temperatura de bulbo seco: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es la temperatura del aire </a:t>
            </a:r>
          </a:p>
          <a:p>
            <a:pPr algn="just">
              <a:lnSpc>
                <a:spcPct val="150000"/>
              </a:lnSpc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Temperatura de bulbo húmedo: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es la temperatura del aire medida para saturación 100 % de agua. Siempre es menor que la de bulbo seco y se igualan en saturación o rocío.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Conceptos básicos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3" y="2120178"/>
            <a:ext cx="4162425" cy="347662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430982" y="1690688"/>
            <a:ext cx="5922818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Temperatura de saturación adiabática: 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temperatura a la cual se alcanza el equilibrio y el aire no acepta mayor contenido de agua, coincide con la de rocío, ya que para una mayor humedad a la de saturación a una temperatura determinada, comienza a precipitar agua.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74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Conceptos básicos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3597"/>
            <a:ext cx="4162425" cy="3476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5430982" y="1690688"/>
                <a:ext cx="5922818" cy="3341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Y (usualmente referida al agua): es la fracción másica en base seca. Es la masa en kilogramo de agua por kilogramo de aire seco.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𝐦𝐇</m:t>
                          </m:r>
                          <m:r>
                            <a:rPr lang="es-ES" sz="2400" b="1" i="0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𝐎</m:t>
                          </m:r>
                        </m:num>
                        <m:den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𝐦𝐀𝐒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2" y="1690688"/>
                <a:ext cx="5922818" cy="3341877"/>
              </a:xfrm>
              <a:prstGeom prst="rect">
                <a:avLst/>
              </a:prstGeom>
              <a:blipFill>
                <a:blip r:embed="rId3"/>
                <a:stretch>
                  <a:fillRect l="-1646" r="-14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/>
          <p:cNvSpPr txBox="1"/>
          <p:nvPr/>
        </p:nvSpPr>
        <p:spPr>
          <a:xfrm>
            <a:off x="642721" y="5596803"/>
            <a:ext cx="10906558" cy="95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838200" y="5157799"/>
            <a:ext cx="10711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Base seca: cuando la relación o fracción está referida a la mezcla que contiene todo menos el componente que se transfiere, en este caso el agua.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76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Conceptos básicos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3597"/>
            <a:ext cx="4162425" cy="3476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5430982" y="1690688"/>
                <a:ext cx="5922818" cy="3341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y (usualmente referida al agua): es la fracción másica en base húmeda. Es la masa en kilogramo de agua por kilogramo de aire húmedo.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𝐦𝐇</m:t>
                          </m:r>
                          <m:r>
                            <a:rPr lang="es-ES" sz="2400" b="1" i="0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𝐎</m:t>
                          </m:r>
                        </m:num>
                        <m:den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𝐦𝐀𝐡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2" y="1690688"/>
                <a:ext cx="5922818" cy="3341877"/>
              </a:xfrm>
              <a:prstGeom prst="rect">
                <a:avLst/>
              </a:prstGeom>
              <a:blipFill>
                <a:blip r:embed="rId3"/>
                <a:stretch>
                  <a:fillRect l="-1646" r="-14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/>
          <p:cNvSpPr txBox="1"/>
          <p:nvPr/>
        </p:nvSpPr>
        <p:spPr>
          <a:xfrm>
            <a:off x="642721" y="5596803"/>
            <a:ext cx="10906558" cy="95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838200" y="5157799"/>
            <a:ext cx="10711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Base húmeda: cuando la relación o fracción está referida a la mezcla que contiene todo incluso el componente que se transfiere, en este caso el agua.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90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Conceptos básicos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3597"/>
            <a:ext cx="4162425" cy="3476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5430982" y="1690688"/>
                <a:ext cx="5922818" cy="3349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X (referida al agua): es la fracción molar en base seca. Es la cantidad de sustancia de agua por </a:t>
                </a:r>
                <a:r>
                  <a:rPr lang="es-ES" sz="2400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kmol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de aire seco.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𝐧𝐇</m:t>
                          </m:r>
                          <m:r>
                            <a:rPr lang="es-ES" sz="2400" b="1" i="0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𝐎</m:t>
                          </m:r>
                        </m:num>
                        <m:den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𝐧𝐀𝐒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2" y="1690688"/>
                <a:ext cx="5922818" cy="3349122"/>
              </a:xfrm>
              <a:prstGeom prst="rect">
                <a:avLst/>
              </a:prstGeom>
              <a:blipFill>
                <a:blip r:embed="rId3"/>
                <a:stretch>
                  <a:fillRect l="-1646" r="-14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/>
          <p:cNvSpPr txBox="1"/>
          <p:nvPr/>
        </p:nvSpPr>
        <p:spPr>
          <a:xfrm>
            <a:off x="642721" y="5596803"/>
            <a:ext cx="10906558" cy="95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706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Conceptos básicos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3597"/>
            <a:ext cx="4162425" cy="3476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5430982" y="1690688"/>
                <a:ext cx="5922818" cy="3349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x (referida al agua): es la fracción molar en base húmeda. Es la cantidad de sustancia de agua por </a:t>
                </a:r>
                <a:r>
                  <a:rPr lang="es-ES" sz="2400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kmol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de aire húmedo.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𝐧𝐇</m:t>
                          </m:r>
                          <m:r>
                            <a:rPr lang="es-ES" sz="2400" b="1" i="0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𝐎</m:t>
                          </m:r>
                        </m:num>
                        <m:den>
                          <m:r>
                            <a:rPr lang="es-ES" sz="2400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𝐧𝐀𝐡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2" y="1690688"/>
                <a:ext cx="5922818" cy="3349122"/>
              </a:xfrm>
              <a:prstGeom prst="rect">
                <a:avLst/>
              </a:prstGeom>
              <a:blipFill>
                <a:blip r:embed="rId3"/>
                <a:stretch>
                  <a:fillRect l="-1646" r="-14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643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Masa molar de una mezcla. Masa molar de aire seco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838200" y="2646652"/>
                <a:ext cx="10515600" cy="3389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𝐌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𝐦𝐞𝐳𝐜𝐥𝐚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" sz="2400" b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2400" b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𝐌</m:t>
                              </m:r>
                            </m:e>
                            <m:sub>
                              <m:r>
                                <a:rPr lang="es-ES" sz="24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𝐢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b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∙</m:t>
                              </m:r>
                              <m:r>
                                <a:rPr lang="es-ES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s-ES" sz="24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𝐢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Masa molar de aire seco: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MAS = M(N</a:t>
                </a:r>
                <a:r>
                  <a:rPr lang="es-ES" sz="2400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)·x(N</a:t>
                </a:r>
                <a:r>
                  <a:rPr lang="es-ES" sz="2400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)+ M(O</a:t>
                </a:r>
                <a:r>
                  <a:rPr lang="es-ES" sz="2400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)·x(O</a:t>
                </a:r>
                <a:r>
                  <a:rPr lang="es-ES" sz="2400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𝐌𝐀𝐒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𝟐𝟖</m:t>
                      </m:r>
                      <m:f>
                        <m:fPr>
                          <m:type m:val="skw"/>
                          <m:ctrlPr>
                            <a:rPr lang="es-ES" sz="2400" b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𝐤𝐠</m:t>
                          </m:r>
                        </m:num>
                        <m:den>
                          <m:r>
                            <a:rPr lang="es-ES" sz="2400" b="1" i="0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𝐤𝐦𝐨𝐥</m:t>
                          </m:r>
                        </m:den>
                      </m:f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𝟕𝟗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𝟑𝟐</m:t>
                      </m:r>
                      <m:f>
                        <m:fPr>
                          <m:type m:val="skw"/>
                          <m:ctrlPr>
                            <a:rPr lang="es-ES" sz="2400" b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𝐤𝐠</m:t>
                          </m:r>
                        </m:num>
                        <m:den>
                          <m:r>
                            <a:rPr lang="es-ES" sz="24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𝐤𝐦𝐨𝐥</m:t>
                          </m:r>
                        </m:den>
                      </m:f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𝟐𝟏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𝟐𝟗</m:t>
                      </m:r>
                      <m:r>
                        <a:rPr lang="es-E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type m:val="skw"/>
                          <m:ctrlPr>
                            <a:rPr lang="es-ES" sz="2400" b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𝐤𝐠</m:t>
                          </m:r>
                        </m:num>
                        <m:den>
                          <m:r>
                            <a:rPr lang="es-ES" sz="24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𝐤𝐦𝐨𝐥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46652"/>
                <a:ext cx="10515600" cy="3389389"/>
              </a:xfrm>
              <a:prstGeom prst="rect">
                <a:avLst/>
              </a:prstGeo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/>
          <p:cNvSpPr txBox="1"/>
          <p:nvPr/>
        </p:nvSpPr>
        <p:spPr>
          <a:xfrm>
            <a:off x="8562109" y="2189452"/>
            <a:ext cx="30618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El aire seco está compuesto por 79 % de N</a:t>
            </a:r>
            <a:r>
              <a:rPr lang="es-ES" sz="24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y 21 % de O</a:t>
            </a:r>
            <a:r>
              <a:rPr lang="es-ES" sz="24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970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Otras fórmulas de relaciones con el aire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/>
              <p:cNvSpPr txBox="1"/>
              <p:nvPr/>
            </p:nvSpPr>
            <p:spPr>
              <a:xfrm>
                <a:off x="1191492" y="2258291"/>
                <a:ext cx="356061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𝑛𝑁</m:t>
                      </m:r>
                      <m:r>
                        <a:rPr lang="es-ES" sz="2400" b="0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𝑛𝐴𝑆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∙0,79</m:t>
                      </m:r>
                    </m:oMath>
                  </m:oMathPara>
                </a14:m>
                <a:endParaRPr lang="es-ES" sz="2400" b="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r>
                        <a:rPr lang="es-ES" sz="2400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𝑛𝐴𝑆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∙0,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21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𝑚𝐻</m:t>
                      </m:r>
                      <m:r>
                        <a:rPr lang="es-ES" sz="2400" b="0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𝑚𝐴𝑆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𝑚𝐻</m:t>
                      </m:r>
                      <m:r>
                        <a:rPr lang="es-ES" sz="2400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𝑚𝐴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𝐴h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𝑚𝐴𝑆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𝑚𝐻</m:t>
                      </m:r>
                      <m:r>
                        <a:rPr lang="es-ES" sz="2400" b="0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𝐴h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𝑚𝐴𝑆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1+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s-ES" sz="2400" b="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92" y="2258291"/>
                <a:ext cx="3560618" cy="39703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7273638" y="2258291"/>
                <a:ext cx="356061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𝑛𝐻</m:t>
                      </m:r>
                      <m:r>
                        <a:rPr lang="es-ES" sz="2400" b="0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𝑛𝐴𝑆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s-ES" sz="2400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𝑛𝐴h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𝐴𝑆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𝑛𝐻</m:t>
                      </m:r>
                      <m:r>
                        <a:rPr lang="es-ES" sz="2400" b="0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𝑛𝐴h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𝑛𝐴𝑆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1+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s-ES" sz="2400" b="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𝑚𝑖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𝑀𝑖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638" y="2258291"/>
                <a:ext cx="3560618" cy="2862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44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Otras fórmulas de relaciones con el aire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/>
              <p:cNvSpPr txBox="1"/>
              <p:nvPr/>
            </p:nvSpPr>
            <p:spPr>
              <a:xfrm>
                <a:off x="1191492" y="2258291"/>
                <a:ext cx="3560618" cy="4177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1+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s-ES" sz="2400" b="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1+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92" y="2258291"/>
                <a:ext cx="3560618" cy="41773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472545" y="2258291"/>
                <a:ext cx="5361711" cy="3903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s-ES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𝑀𝐴𝑆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  <m:r>
                            <a:rPr lang="es-E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s-ES" sz="240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s-E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En caso de tener que calcular volumen húmedo se puede usar el despeje a partir de la ecuación de gases ideales, donde n es </a:t>
                </a:r>
                <a:r>
                  <a:rPr lang="es-ES" sz="2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nAh</a:t>
                </a:r>
                <a:r>
                  <a:rPr lang="es-E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s-E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PV=</a:t>
                </a:r>
                <a:r>
                  <a:rPr lang="es-ES" sz="2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nRT</a:t>
                </a:r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545" y="2258291"/>
                <a:ext cx="5361711" cy="3903376"/>
              </a:xfrm>
              <a:prstGeom prst="rect">
                <a:avLst/>
              </a:prstGeom>
              <a:blipFill>
                <a:blip r:embed="rId3"/>
                <a:stretch>
                  <a:fillRect l="-1820" r="-1706" b="-9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665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1326" y="341603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Cálculo de agua ganada y perdida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/>
              <p:cNvSpPr txBox="1"/>
              <p:nvPr/>
            </p:nvSpPr>
            <p:spPr>
              <a:xfrm>
                <a:off x="1191491" y="1390273"/>
                <a:ext cx="49876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Se gana agua en el </a:t>
                </a:r>
                <a:r>
                  <a:rPr lang="es-ES" sz="2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saturador</a:t>
                </a:r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𝑚𝐻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𝑂𝑔𝑎𝑛𝑎𝑑𝑎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𝑚𝐴𝑆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1)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91" y="1390273"/>
                <a:ext cx="4987635" cy="1200329"/>
              </a:xfrm>
              <a:prstGeom prst="rect">
                <a:avLst/>
              </a:prstGeom>
              <a:blipFill>
                <a:blip r:embed="rId2"/>
                <a:stretch>
                  <a:fillRect l="-18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6719453" y="1390272"/>
                <a:ext cx="49876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Se pierde agua en el condensador</a:t>
                </a:r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𝑚𝐻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𝑂𝑝𝑒𝑟𝑑𝑖𝑑𝑎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𝑚𝐴𝑆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2)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453" y="1390272"/>
                <a:ext cx="4987635" cy="1200329"/>
              </a:xfrm>
              <a:prstGeom prst="rect">
                <a:avLst/>
              </a:prstGeom>
              <a:blipFill>
                <a:blip r:embed="rId3"/>
                <a:stretch>
                  <a:fillRect l="-183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571" y="2604800"/>
            <a:ext cx="3876675" cy="27241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20" y="2715835"/>
            <a:ext cx="3924300" cy="238125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191491" y="4913451"/>
            <a:ext cx="10335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Nota: Se resta la Y mayor – Y menor, porque las masas no pueden ser negativas. La masa de aire seco no cambia, sino la de aire húmedo. El agua neta ganada o perdida, es la cifra mayor menos la menor.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987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590</Words>
  <Application>Microsoft Office PowerPoint</Application>
  <PresentationFormat>Panorámica</PresentationFormat>
  <Paragraphs>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Tema de Office</vt:lpstr>
      <vt:lpstr>Carta sicrométrica. Cálculos y fórmulas</vt:lpstr>
      <vt:lpstr>Leyenda</vt:lpstr>
      <vt:lpstr>Conceptos básicos</vt:lpstr>
      <vt:lpstr>Conceptos básicos</vt:lpstr>
      <vt:lpstr>Conceptos básicos</vt:lpstr>
      <vt:lpstr>Conceptos básicos</vt:lpstr>
      <vt:lpstr>Conceptos básicos</vt:lpstr>
      <vt:lpstr>Conceptos básicos</vt:lpstr>
      <vt:lpstr>Masa molar de una mezcla. Masa molar de aire seco</vt:lpstr>
      <vt:lpstr>Otras fórmulas de relaciones con el aire</vt:lpstr>
      <vt:lpstr>Otras fórmulas de relaciones con el aire</vt:lpstr>
      <vt:lpstr>Cálculo de agua ganada y perdida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 sicrométrica y procesos aire-agua</dc:title>
  <dc:creator>claudia cortes</dc:creator>
  <cp:lastModifiedBy>claudia cortes</cp:lastModifiedBy>
  <cp:revision>17</cp:revision>
  <dcterms:created xsi:type="dcterms:W3CDTF">2023-09-06T01:29:09Z</dcterms:created>
  <dcterms:modified xsi:type="dcterms:W3CDTF">2023-09-06T21:49:44Z</dcterms:modified>
</cp:coreProperties>
</file>